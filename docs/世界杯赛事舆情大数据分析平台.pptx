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9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99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我的计算机课程期末大作业——世界杯赛事舆情大数据分析平台。这个项目旨在通过大数据技术，深入分析两届世界杯对相关行业的影响，并挖掘其中的舆情趋势。接下来，我将从项目背景、系统架构、核心功能等多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项目的背景与目标。我们选择对比分析2022年卡塔尔世界杯和即将到来的2026年美加墨世界杯。世界杯的巨大影响力使其成为分析社会经济的绝佳样本。我们的核心目标是对比两届世界杯对餐饮、旅游、体彩、零售和股市这五大行业的影响，并从中挖掘舆情趋势，为行业决策提供有价值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这是我们系统的整体架构，它分为四个层次。最底层是数据采集层，通过爬虫系统从四大新闻源获取数据。数据存储层使用CSV文件和SQL Server数据库来管理数据。业务逻辑层是核心，利用Python及其相关库进行数据处理和分析。最上层是前端展示层，通过Flask和ECharts将分析结果以可视化的方式呈现给用户。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项目的清晰和可维护性，我们设计了如图所示的目录结构。Web目录包含了前端和后端主程序；Spider目录存放爬虫脚本；Analysis目录是数据分析的核心模块；Data目录用于存储数据文件；SQL和Database目录则负责数据库相关的配置和脚本。这种模块化的结构使得项目各部分职责分明，便于后续开发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采集是本项目的基础。我们构建了一个多源爬虫系统，从360资讯、搜狗新闻、百度资讯和央视网四个渠道获取数据。通过精心设计的关键词组合和反爬策略，我们成功获取了1137条有效新闻，其中2022年世界杯相关447条，2026年世界杯相关690条，为后续分析提供了坚实的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对于数据存储，我们采用了双方案。首先，使用CSV文件进行简单存储，方便快速查看和初步处理。更重要的是，我们将数据导入到SQL Server数据库中。这样做的好处是可以利用数据库强大的查询和管理功能，支持更复杂的数据分析操作，并且我们实现了自动去重，保证了数据的唯一性和准确性。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主要包含四大核心功能模块。数据采集模块负责从源头获取数据；数据处理模块对原始数据进行清洗和转换；数据分析模块是项目的核心，执行行业统计、情感分析等关键任务；最后，可视化展示模块通过ECharts图表将分析结果直观地呈现出来，让用户能够轻松理解数据背后的故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一下系统的前端界面。这是首页，它提供了数据的总览，包括新闻总量、年份分布和行业覆盖情况。页面上的行业分布饼图和两届世界杯热度对比图，能让用户对整体数据有一个快速直观的了解。请大家看屏幕中央的截图区域，这就是我们首页的实际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对比分析页面。在这里，用户可以深入比较两届世界杯。我们提供了各行业热度占比的条形图，五大行业的情绪分布图，以及舆情的时间趋势分析。这些功能可以帮助用户发现两届世界杯之间的具体差异和变化规律。请大家看屏幕中央的截图区域，这是对比分析页面的实际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词云分析页面是我们系统的一大亮点。通过生成高频关键词词云图，我们可以一目了然地看到公众最关心的话题是什么。同时，词频TOP20柱状图和核心关键词雷达图，为我们提供了更量化、多维度的分析视角。请大家看屏幕中央的截图区域，这是词云分析页面的实际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情感分析是我们深入理解舆情的关键。我们通过jieba分词和自定义的情感词库，实现了对新闻标题的情感倾向判断。系统可以输出各行业以及分年份的情感分布，帮助我们了解公众对不同事件的情绪反应，比如是积极的期待，还是担忧和争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增强用户交互体验，我们还集成了AI对话助手。通过调用SiliconFlow的Qwen大语言模型，用户可以直接在系统中与AI进行对话，咨询关于世界杯的各种问题。这大大提升了系统的智能性和实用性。请大家看屏幕中央的截图区域，这是AI对话助手的实际交互界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我们项目的几个技术亮点。我们构建了智能爬虫系统，实现了自动化的数据处理流程，并通过算法进行智能分类。情感分析模块和交互式可视化界面也是我们的特色，它们共同构成了一个功能完善、体验良好的数据分析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这里是我们项目的数据统计概览。我们共采集并分析了1137条有效新闻，覆盖了两届世界杯、五个核心行业和四个数据来源。我们从超过10个维度对这些数据进行了深入分析，确保了结论的全面性和可靠性。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对项目进行总结。我们成功完成了从数据采集到可视化展示的全流程开发，实现了多源爬虫、数据存储、五大行业舆情分析、两届世界杯对比、情感分析、词云可视化以及AI对话助手等核心功能。这个项目不仅完成了既定目标，更重要的是，它提供了一个可复用、可扩展的分析框架，具备一定的实际应用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这个项目还有很大的提升空间。在功能上，我们可以接入更多数据源，实现实时更新，并采用更先进的情感分析模型。在技术上，可以引入分布式爬虫来提高效率，并设计更丰富的可视化图表。这些都是我们下一步可以努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我的汇报到此结束。再次感谢老师的悉心指导和同学们的热心帮助。谢谢大家！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9.svg"/><Relationship Id="rId40" Type="http://schemas.openxmlformats.org/officeDocument/2006/relationships/notesSlide" Target="../notesSlides/notesSlide4.xml"/><Relationship Id="rId4" Type="http://schemas.openxmlformats.org/officeDocument/2006/relationships/image" Target="../media/image18.png"/><Relationship Id="rId39" Type="http://schemas.openxmlformats.org/officeDocument/2006/relationships/slideLayout" Target="../slideLayouts/slideLayout12.xml"/><Relationship Id="rId38" Type="http://schemas.openxmlformats.org/officeDocument/2006/relationships/tags" Target="../tags/tag27.xml"/><Relationship Id="rId37" Type="http://schemas.openxmlformats.org/officeDocument/2006/relationships/tags" Target="../tags/tag26.xml"/><Relationship Id="rId36" Type="http://schemas.openxmlformats.org/officeDocument/2006/relationships/tags" Target="../tags/tag25.xml"/><Relationship Id="rId35" Type="http://schemas.openxmlformats.org/officeDocument/2006/relationships/tags" Target="../tags/tag24.xml"/><Relationship Id="rId34" Type="http://schemas.openxmlformats.org/officeDocument/2006/relationships/tags" Target="../tags/tag23.xml"/><Relationship Id="rId33" Type="http://schemas.openxmlformats.org/officeDocument/2006/relationships/image" Target="../media/image3.svg"/><Relationship Id="rId32" Type="http://schemas.openxmlformats.org/officeDocument/2006/relationships/image" Target="../media/image2.png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image" Target="../media/image23.svg"/><Relationship Id="rId25" Type="http://schemas.openxmlformats.org/officeDocument/2006/relationships/image" Target="../media/image22.pn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9.svg"/><Relationship Id="rId18" Type="http://schemas.openxmlformats.org/officeDocument/2006/relationships/image" Target="../media/image8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tags" Target="../tags/tag7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1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16.jpe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tags" Target="../tags/tag29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28.xml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40.png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image" Target="../media/image9.svg"/><Relationship Id="rId14" Type="http://schemas.openxmlformats.org/officeDocument/2006/relationships/image" Target="../media/image8.png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image" Target="../media/image39.sv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tags" Target="../tags/tag39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9" Type="http://schemas.openxmlformats.org/officeDocument/2006/relationships/image" Target="../media/image44.png"/><Relationship Id="rId18" Type="http://schemas.openxmlformats.org/officeDocument/2006/relationships/image" Target="../media/image43.png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image" Target="../media/image42.svg"/><Relationship Id="rId14" Type="http://schemas.openxmlformats.org/officeDocument/2006/relationships/image" Target="../media/image41.png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image" Target="../media/image39.sv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tags" Target="../tags/tag49.xml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50.png"/><Relationship Id="rId20" Type="http://schemas.openxmlformats.org/officeDocument/2006/relationships/image" Target="../media/image49.png"/><Relationship Id="rId2" Type="http://schemas.openxmlformats.org/officeDocument/2006/relationships/tags" Target="../tags/tag48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image" Target="../media/image48.svg"/><Relationship Id="rId16" Type="http://schemas.openxmlformats.org/officeDocument/2006/relationships/image" Target="../media/image47.png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tags" Target="../tags/tag61.xml"/><Relationship Id="rId22" Type="http://schemas.openxmlformats.org/officeDocument/2006/relationships/notesSlide" Target="../notesSlides/notesSlide11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55.png"/><Relationship Id="rId2" Type="http://schemas.openxmlformats.org/officeDocument/2006/relationships/tags" Target="../tags/tag60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image" Target="../media/image54.svg"/><Relationship Id="rId10" Type="http://schemas.openxmlformats.org/officeDocument/2006/relationships/image" Target="../media/image53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8.png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svg"/><Relationship Id="rId8" Type="http://schemas.openxmlformats.org/officeDocument/2006/relationships/image" Target="../media/image65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7.svg"/><Relationship Id="rId12" Type="http://schemas.openxmlformats.org/officeDocument/2006/relationships/image" Target="../media/image36.png"/><Relationship Id="rId11" Type="http://schemas.openxmlformats.org/officeDocument/2006/relationships/image" Target="../media/image68.svg"/><Relationship Id="rId10" Type="http://schemas.openxmlformats.org/officeDocument/2006/relationships/image" Target="../media/image67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78.svg"/><Relationship Id="rId16" Type="http://schemas.openxmlformats.org/officeDocument/2006/relationships/image" Target="../media/image77.png"/><Relationship Id="rId15" Type="http://schemas.openxmlformats.org/officeDocument/2006/relationships/image" Target="../media/image76.svg"/><Relationship Id="rId14" Type="http://schemas.openxmlformats.org/officeDocument/2006/relationships/image" Target="../media/image75.png"/><Relationship Id="rId13" Type="http://schemas.openxmlformats.org/officeDocument/2006/relationships/image" Target="../media/image74.svg"/><Relationship Id="rId12" Type="http://schemas.openxmlformats.org/officeDocument/2006/relationships/image" Target="../media/image73.png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svg"/><Relationship Id="rId8" Type="http://schemas.openxmlformats.org/officeDocument/2006/relationships/image" Target="../media/image81.png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86.svg"/><Relationship Id="rId16" Type="http://schemas.openxmlformats.org/officeDocument/2006/relationships/image" Target="../media/image85.png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image" Target="../media/image84.svg"/><Relationship Id="rId10" Type="http://schemas.openxmlformats.org/officeDocument/2006/relationships/image" Target="../media/image83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世界杯赛事舆情大数据分析平台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7465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3467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527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小组：欢乐比奇堡组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5080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53467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527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汇报日期：2026年7月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86" b="1586"/>
          <a:stretch>
            <a:fillRect/>
          </a:stretch>
        </p:blipFill>
        <p:spPr>
          <a:xfrm>
            <a:off x="762000" y="1778000"/>
            <a:ext cx="2794000" cy="3810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10B981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064000" y="1778000"/>
            <a:ext cx="736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▍项目背景：全球盛事的经济与社会镜像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0" y="2311400"/>
            <a:ext cx="736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世界杯不仅是全球瞩目的体育竞技舞台，更是洞察社会经济、消费趋势与公众情绪的重要窗口。本次研究选取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2022卡塔尔世界杯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2026美加墨世界杯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进行跨时空对比，旨在通过两届顶级赛事的纵向分析，深度挖掘其对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餐饮、旅游、体彩、零售、股市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的影响。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927">
            <a:off x="4064005" y="3740150"/>
            <a:ext cx="736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064000" y="4000500"/>
            <a:ext cx="23622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200" y="4229100"/>
            <a:ext cx="330200" cy="330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73600" y="42291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行业效应透视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67200" y="4762500"/>
            <a:ext cx="1955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聚焦餐饮、旅游、体彩、零售及股市五大核心赛道，量化两届赛事带来的经济拉动差异，解析赛事对不同产业的提振逻辑与市场表现。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53200" y="4000500"/>
            <a:ext cx="23622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6400" y="4229100"/>
            <a:ext cx="330200" cy="330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62800" y="42291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舆情趋势解码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56400" y="4762500"/>
            <a:ext cx="1955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挖掘从预热、爆发到长尾期的舆论焦点转移，捕捉公众情绪走向与关注热点的演变，还原赛事背后的社会心理与舆论脉络。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42400" y="4000500"/>
            <a:ext cx="23622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45600" y="4229100"/>
            <a:ext cx="330200" cy="330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652000" y="4229100"/>
            <a:ext cx="177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商业决策支撑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45600" y="4762500"/>
            <a:ext cx="1955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基于数据洞察与趋势研判，为品牌营销、市场布局及投资策略提供科学参考，助力企业把握体育经济带来的商业机遇。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0406" r="10406"/>
          <a:stretch>
            <a:fillRect/>
          </a:stretch>
        </p:blipFill>
        <p:spPr>
          <a:xfrm>
            <a:off x="1016000" y="1714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2225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前端展示层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22500" y="2095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 + Jinja2 + ECharts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负责用户界面渲染与数据可视化，通过交互式图表直观呈现分析结果，提供流畅的页面导航体验。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86500" y="139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40500" y="1714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747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业务逻辑层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47000" y="2095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+ pandas + jieba + wordcloud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处理核心业务逻辑，完成数据清洗、行业分类、情感倾向分析及词云图生成，是系统的“大脑”。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0005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1105" b="1105"/>
          <a:stretch>
            <a:fillRect/>
          </a:stretch>
        </p:blipFill>
        <p:spPr>
          <a:xfrm>
            <a:off x="1016000" y="431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222500" y="425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数据存储层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222500" y="4699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CSV 本地文件 + SQL Server 数据库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双端存储原始采集数据与结构化处理数据，兼顾海量数据的快速读写与复杂条件的高效查询需求。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40005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40500" y="431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747000" y="425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数据采集层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747000" y="4699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来源与工具：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分布式爬虫系统 | 360/搜狗/百度/央视网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自动化从主流资讯平台抓取世界杯相关新闻数据，支持多源并发采集，保障数据的实时性与全面性。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项目目录结构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716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/ 核心应用层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691">
            <a:off x="965214" y="24574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65200" y="25908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承载前后端交互的核心模块，包含 Flask 主程序入口 app.py，templates 模板目录用于渲染动态页面，static 目录存放 CSS、JS 等静态资源。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942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7400" y="1981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0038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spider / 数据采集层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691">
            <a:off x="4597414" y="24574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97400" y="25908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独立的数据采集引擎，负责自动化抓取世界杯赛事新闻与相关数据，完成数据的初步清洗与结构化输出，为后续分析提供源头活水。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264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29600" y="1981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6360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analysis / 价值挖掘层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691">
            <a:off x="8229614" y="24574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229600" y="25908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项目的核心大脑，包含数据格式转换、行业趋势深度分析以及词云生成等功能，将原始数据转化为可视化的洞察与商业价值。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62000" y="41275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5200" y="43307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1371600" y="43053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/ 数据仓储层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8"/>
            </p:custDataLst>
          </p:nvPr>
        </p:nvCxnSpPr>
        <p:spPr>
          <a:xfrm rot="-14691">
            <a:off x="965214" y="48069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965200" y="49403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集中存储项目全量数据资产，包含 merged_all.csv 等合并后的结构化数据集，实现数据的统一管理与持久化存储，便于回溯与复用。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4394200" y="41275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97400" y="43307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4"/>
            </p:custDataLst>
          </p:nvPr>
        </p:nvSpPr>
        <p:spPr>
          <a:xfrm>
            <a:off x="5003800" y="43053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/ 脚本资源层</a:t>
            </a:r>
            <a:endParaRPr lang="en-US" sz="1100"/>
          </a:p>
        </p:txBody>
      </p:sp>
      <p:cxnSp>
        <p:nvCxnSpPr>
          <p:cNvPr id="27" name="Connector 27"/>
          <p:cNvCxnSpPr/>
          <p:nvPr>
            <p:custDataLst>
              <p:tags r:id="rId35"/>
            </p:custDataLst>
          </p:nvPr>
        </p:nvCxnSpPr>
        <p:spPr>
          <a:xfrm rot="-14691">
            <a:off x="4597414" y="48069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4597400" y="49403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存放数据库操作的核心脚本，涵盖建表语句、数据插入逻辑及复杂查询脚本，实现数据库结构的快速初始化与数据的高效管理。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7"/>
            </p:custDataLst>
          </p:nvPr>
        </p:nvSpPr>
        <p:spPr>
          <a:xfrm>
            <a:off x="8026400" y="4127500"/>
            <a:ext cx="3378200" cy="19685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>
            <p:custDataLst>
              <p:tags r:id="rId38"/>
            </p:custDataLst>
          </p:nvPr>
        </p:nvSpPr>
        <p:spPr>
          <a:xfrm>
            <a:off x="8229600" y="49403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34" name="文本框 33"/>
          <p:cNvSpPr txBox="1"/>
          <p:nvPr/>
        </p:nvSpPr>
        <p:spPr>
          <a:xfrm>
            <a:off x="8534400" y="4254500"/>
            <a:ext cx="2844800" cy="174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lnSpc>
                <a:spcPct val="133000"/>
              </a:lnSpc>
              <a:defRPr/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worldcup_news_project/</a:t>
            </a:r>
            <a:endParaRPr lang="en-US" sz="1200"/>
          </a:p>
          <a:p>
            <a:pPr marL="0" indent="0" algn="l">
              <a:lnSpc>
                <a:spcPct val="133000"/>
              </a:lnSpc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web/ → Flask Web应用（前端）</a:t>
            </a:r>
            <a:endParaRPr lang="en-US" sz="1200" b="0" i="0" u="none" strike="noStrike">
              <a:solidFill>
                <a:srgbClr val="1F293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spider/ → 爬虫模块（数据采集）</a:t>
            </a:r>
            <a:endParaRPr lang="en-US" sz="1200" b="0" i="0" u="none" strike="noStrike">
              <a:solidFill>
                <a:srgbClr val="1F293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analysis/ → 数据分析模块（情感分析、词云生成）</a:t>
            </a:r>
            <a:endParaRPr lang="en-US" sz="1200" b="0" i="0" u="none" strike="noStrike">
              <a:solidFill>
                <a:srgbClr val="1F293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data/ → 数据文件（CSV）</a:t>
            </a:r>
            <a:endParaRPr lang="en-US" sz="1200" b="0" i="0" u="none" strike="noStrike">
              <a:solidFill>
                <a:srgbClr val="1F293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sql/ → SQL脚本</a:t>
            </a:r>
            <a:endParaRPr lang="en-US" sz="1200" b="0" i="0" u="none" strike="noStrike">
              <a:solidFill>
                <a:srgbClr val="1F293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数据采集 - 爬虫系统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15" b="315"/>
          <a:stretch>
            <a:fillRect/>
          </a:stretch>
        </p:blipFill>
        <p:spPr>
          <a:xfrm>
            <a:off x="762000" y="1651000"/>
            <a:ext cx="2032000" cy="1041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360资讯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核心数据源，更新稳定可靠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0" y="15367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2385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搜狗新闻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聚合多源信息，内容丰富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40" b="40"/>
          <a:stretch>
            <a:fillRect/>
          </a:stretch>
        </p:blipFill>
        <p:spPr>
          <a:xfrm>
            <a:off x="6096000" y="1536700"/>
            <a:ext cx="17018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9055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百度资讯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海量信息覆盖，维度全面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17000" y="15367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8265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央视网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权威媒体信源，真实客观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406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智能爬取策略体系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37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635500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多维关键词组合策略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设计“世界杯+行业词”50组搜索词，精准覆盖赛事、商业、文旅等场景，确保数据高度相关。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689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588000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高可用反爬与稳定性保障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采用随机延时、User-Agent轮换及动态代理技术，模拟真人访问，突破反爬限制，保障采集不间断。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406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数据采集成果概览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46990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4699000"/>
            <a:ext cx="165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1137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有效新闻总数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经过清洗与去重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128000" y="46990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128000" y="4699000"/>
            <a:ext cx="165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447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2022卡塔尔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往届赛事回顾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906000" y="46990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906000" y="4699000"/>
            <a:ext cx="165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690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2026美加墨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未来赛事展望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数据存储方案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CSV 文件轻量存储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305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692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存储路径：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./data/merged_all.csv (UTF-8 编码)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23850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83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48895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26834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SQL Server 结构化管理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t="1105" b="1105"/>
          <a:stretch>
            <a:fillRect/>
          </a:stretch>
        </p:blipFill>
        <p:spPr>
          <a:xfrm>
            <a:off x="1016000" y="378714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2667000" y="3787140"/>
            <a:ext cx="3238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采用本地 SQL Server 实例构建稳定的数据仓库，将非结构化新闻数据转化为结构化记录，支持复杂的关联查询与数据挖掘分析。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5974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45974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715500" y="45974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135" y="1778000"/>
            <a:ext cx="6035675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核心功能模块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数据采集模块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支持多源网站智能爬虫抓取，内置自动去重与年份智能识别算法，高效聚合碎片化网络信息，确保数据源的全面性、准确性与时效性，为后续分析筑牢坚实的数据基础。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数据处理模块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实现采集数据向CSV格式的高效转换与结构化存储，基于预训练模型完成精准行业分类，并执行缺失值填充、异常值剔除等多维度清洗，大幅提升数据质量与可用性。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数据分析模块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深度执行行业分布统计、文本情感倾向分析及高频关键词提取，结合词云生成技术直观呈现热点。通过量化分析挖掘数据背后的核心趋势、用户关注点与潜在价值。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可视化展示模块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基于ECharts构建动态交互式图表，支持多维度下钻与实时筛选；搭配清晰的多页面导航体系，将复杂的分析结果以直观、易懂的可视化形式呈现，提升数据解读效率。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前端界面展示 - 首页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10665"/>
            <a:ext cx="3378200" cy="4918075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732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数据全景总览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413000"/>
            <a:ext cx="2870200" cy="6438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聚合全网新闻资讯总量，清晰呈现各年度数据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23469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473200" y="318071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行业占比可视化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016000" y="3685540"/>
            <a:ext cx="2870200" cy="713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直观拆解五大核心行业的新闻资讯占比，快速识别重点聚焦领域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4538345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473200" y="455104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世界杯舆情洞察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016000" y="503301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纵向对比两届世界杯赛事的全网舆情热度趋势，深度挖掘赛事。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889500" y="48514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559800" y="419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0" y="5588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00245" y="1510665"/>
            <a:ext cx="7317105" cy="4918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前端界面展示 - 对比分析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78200" cy="485775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行业热度多维对比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667000"/>
            <a:ext cx="2870200" cy="8851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基于条形图，直观呈现两届世界杯在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餐饮、旅游、体彩、零售、股市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五大核心行业的舆情热度差异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524000" y="368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全链路情绪洞察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016000" y="4194810"/>
            <a:ext cx="2870200" cy="6375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拆解各行业的情感构成，展示正面、中性、负面情绪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占比。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493776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524000" y="494919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舆情时间轴推演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016000" y="5447030"/>
            <a:ext cx="2870200" cy="4178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时间趋势分析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16000" y="5651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10000" y="4381500"/>
            <a:ext cx="736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0" y="56134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访问入口：/compare</a:t>
            </a: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50790" y="1174750"/>
            <a:ext cx="6483985" cy="283019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0155" y="4020820"/>
            <a:ext cx="6484620" cy="2614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前端界面展示 - 词云分析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78200" cy="725805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732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高频关键词词云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603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394200" y="1778000"/>
            <a:ext cx="3378200" cy="725805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482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1054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词频 TOP20 排行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48200" y="2603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026400" y="1778000"/>
            <a:ext cx="3378200" cy="725805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804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7376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多维特征雷达对比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280400" y="2603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127500" y="4381500"/>
            <a:ext cx="736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127500" y="4889500"/>
            <a:ext cx="736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254500" y="58674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2743835"/>
            <a:ext cx="5334000" cy="39674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05550" y="2782570"/>
            <a:ext cx="5397500" cy="3928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情感分析功能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953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461000" y="1778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006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223000" y="20066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技术实现：分词与智能判定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715000" y="2476500"/>
            <a:ext cx="546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jieba 分词库对新闻标题进行精准切分，结合自定义的情感计算模型，对文本中的情绪倾向进行自动化识别与判定，实现高效的语义解析。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5461000" y="3429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5000" y="3657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223000" y="36576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情感词库：正负向多维标签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715000" y="4127500"/>
            <a:ext cx="546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构建完备的情感词库体系，涵盖“增长、夺冠、利好”等正面标签，以及“下降、亏损、争议”等负面标签，为情绪量化提供坚实的语料基础。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461000" y="5080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15000" y="5308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6223000" y="53086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结果洞察：趋势与分布可视化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5715000" y="5778500"/>
            <a:ext cx="546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输出各行业正负面情感占比，对比不同年份的情绪演变趋势，深度洞察世界杯等重大赛事期间公众情绪的波动规律与舆论走向。</a:t>
            </a: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315" y="1778000"/>
            <a:ext cx="447421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AI对话助手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524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390015"/>
            <a:ext cx="2580640" cy="458089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l">
              <a:lnSpc>
                <a:spcPct val="133000"/>
              </a:lnSpc>
              <a:defRPr/>
            </a:pP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sz="16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集成AI对话能力，支持世界杯相关问题咨询</a:t>
            </a:r>
            <a:endParaRPr lang="en-US" sz="16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基于SiliconFlow API，使用Qwen大语言模型</a:t>
            </a:r>
            <a:endParaRPr lang="en-US" sz="16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>
              <a:defRPr/>
            </a:pPr>
            <a:endParaRPr sz="16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020" y="14859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404620" y="14605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 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080000" y="24765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5588000" y="36576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5080000" y="41275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5588000" y="53086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5080000" y="57404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6010" y="859155"/>
            <a:ext cx="8249920" cy="5824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技术亮点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143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905500" y="1841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5524500" y="2222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9271000" y="1841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8890000" y="2222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5905500" y="3429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7"/>
            </p:custDataLst>
          </p:nvPr>
        </p:nvSpPr>
        <p:spPr>
          <a:xfrm>
            <a:off x="8890000" y="38100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74370"/>
            <a:ext cx="9258300" cy="548513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</a:t>
            </a:r>
            <a:r>
              <a:rPr lang="en-US" sz="18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智能爬虫系统：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多数据源采集，反爬策略完善（随机延时、UA轮换）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sz="1800"/>
          </a:p>
          <a:p>
            <a:pPr marL="0" indent="0" algn="l">
              <a:lnSpc>
                <a:spcPct val="133000"/>
              </a:lnSpc>
            </a:pPr>
            <a:r>
              <a:rPr 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</a:t>
            </a:r>
            <a:r>
              <a:rPr lang="en-US" sz="18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自动化数据流程：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一键运行：爬虫 → 数据转换 → 导入数据库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</a:t>
            </a:r>
            <a:r>
              <a:rPr lang="en-US" sz="18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智能分类：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年份自动识别（2022/2026）、行业智能归类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</a:t>
            </a:r>
            <a:r>
              <a:rPr lang="en-US" sz="18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情感分析：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中文分词 + 情感词库，分析舆情倾向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</a:t>
            </a:r>
            <a:r>
              <a:rPr lang="en-US" sz="18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交互式可视化：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ECharts动态图表，支持筛选切换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>
              <a:defRPr/>
            </a:pPr>
            <a:endParaRPr sz="1800"/>
          </a:p>
        </p:txBody>
      </p:sp>
      <p:sp>
        <p:nvSpPr>
          <p:cNvPr id="25" name="AutoShape 25"/>
          <p:cNvSpPr/>
          <p:nvPr/>
        </p:nvSpPr>
        <p:spPr>
          <a:xfrm>
            <a:off x="5524500" y="5524500"/>
            <a:ext cx="622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数据统计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82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新闻总量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1137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00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全网采集的有效新闻样本总数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082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2022卡塔尔世界杯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447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200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聚焦往届赛事的深度报道回顾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082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2026美加墨世界杯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690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200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涵盖筹备进展与未来动态预测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275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4323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覆盖核心行业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889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549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体育、文旅、经济等多领域覆盖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41275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4381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207000" y="44323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权威数据来源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99000" y="4889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99000" y="5549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整合主流媒体与专业平台资源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41275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4381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890000" y="44323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深度分析维度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82000" y="4889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10+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82000" y="5549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多视角挖掘数据背后的价值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 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核心成果交付清单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95400" y="2692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多源数据爬虫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自动化采集全网公开数据，覆盖多平台数据源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5400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73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25900" y="2692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混合存储架构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CSV文件归档 + SQL Server高效检索查询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393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95400" y="38989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多维度舆情洞察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完成五大重点行业的深度舆情分析报告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37465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3937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25900" y="38989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赛事对比复盘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两届世界杯数据横向对比，挖掘趋势变化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5143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95400" y="5105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情感与词云可视化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智能判定舆论情绪倾向，热点关键词云展示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492500" y="4953000"/>
            <a:ext cx="2476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44900" y="514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25900" y="5105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智能AI对话助手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基于大模型的交互式问答，即时解读数据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1651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项目价值与未来展望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21590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2540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2730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27305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构建全链路数据处理闭环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317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成功打通了从数据采集、清洗存储、智能分析到可视化展示的完整技术链路，验证了方案的可行性，沉淀出一套标准化的数据处理作业流程。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4127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0500" y="43180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85000" y="43180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打造可复用的通用分析框架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4762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系统架构具备极强的扩展性，不仅适用于体育赛事分析，还能快速迁移至金融、教育、电商等多个领域，为舆情监控与决策分析提供有力的技术支撑。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5778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功能生态扩展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857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19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多源数据聚合接入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打通懂球帝、虎扑等垂直社区壁垒，深度挖掘球迷真实讨论与观点倾向，构建覆盖赛前、赛中、赛后的全量数据池。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73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35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毫秒级资讯实时同步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搭建高并发数据抓取通道，实现赛事动态、球迷热评的秒级更新与即时分析，拒绝信息延迟，把握舆情先机。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851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驱动的情感研判升级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引入BERT深度学习模型优化算法，精准识别反讽、隐喻等复杂语境，大幅提升情感极性判断的准确率与细腻度。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596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技术架构迭代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2857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2819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分布式高并发采集集群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重构数据抓取架构，采用分布式多节点并行爬取，突破单机性能瓶颈，支持海量数据的高效采集与负载均衡。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3873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3835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交互式全景数据可视化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开发动态热力图、趋势曲线图及关联图谱，将枯燥的文本数据转化为直观的视觉语言，让分析结果更具可读性。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4889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4851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云原生弹性算力调度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基于云平台实现计算资源的弹性伸缩，根据数据分析任务的负载动态调配资源，兼顾处理效率与运营成本。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339590" y="2540000"/>
            <a:ext cx="6836410" cy="2560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8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3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4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5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6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7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8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9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0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1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2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3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4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5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6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19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0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1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2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3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4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5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6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7.xml><?xml version="1.0" encoding="utf-8"?>
<p:tagLst xmlns:p="http://schemas.openxmlformats.org/presentationml/2006/main">
  <p:tag name="KSO_WM_DIAGRAM_VIRTUALLY_FRAME" val="{&quot;height&quot;:340,&quot;left&quot;:60,&quot;top&quot;:140,&quot;width&quot;:838}"/>
</p:tagLst>
</file>

<file path=ppt/tags/tag28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29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0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1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2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3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4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5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6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7.xml><?xml version="1.0" encoding="utf-8"?>
<p:tagLst xmlns:p="http://schemas.openxmlformats.org/presentationml/2006/main">
  <p:tag name="KSO_WM_DIAGRAM_VIRTUALLY_FRAME" val="{&quot;height&quot;:398.3,&quot;left&quot;:60,&quot;top&quot;:118.95,&quot;width&quot;:840}"/>
</p:tagLst>
</file>

<file path=ppt/tags/tag38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39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0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1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2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3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4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5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6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7.xml><?xml version="1.0" encoding="utf-8"?>
<p:tagLst xmlns:p="http://schemas.openxmlformats.org/presentationml/2006/main">
  <p:tag name="KSO_WM_DIAGRAM_VIRTUALLY_FRAME" val="{&quot;height&quot;:382.5,&quot;left&quot;:60,&quot;top&quot;:140,&quot;width&quot;:838}"/>
</p:tagLst>
</file>

<file path=ppt/tags/tag48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49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0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1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2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3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4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5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6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7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8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59.xml><?xml version="1.0" encoding="utf-8"?>
<p:tagLst xmlns:p="http://schemas.openxmlformats.org/presentationml/2006/main">
  <p:tag name="KSO_WM_DIAGRAM_VIRTUALLY_FRAME" val="{&quot;height&quot;:180,&quot;left&quot;:60,&quot;top&quot;:140,&quot;width&quot;:838}"/>
</p:tagLst>
</file>

<file path=ppt/tags/tag60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1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2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3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4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5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6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7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8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69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70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71.xml><?xml version="1.0" encoding="utf-8"?>
<p:tagLst xmlns:p="http://schemas.openxmlformats.org/presentationml/2006/main">
  <p:tag name="KSO_WM_DIAGRAM_VIRTUALLY_FRAME" val="{&quot;height&quot;:375,&quot;left&quot;:430,&quot;top&quot;:140,&quot;width&quot;:470}"/>
</p:tagLst>
</file>

<file path=ppt/tags/tag72.xml><?xml version="1.0" encoding="utf-8"?>
<p:tagLst xmlns:p="http://schemas.openxmlformats.org/presentationml/2006/main">
  <p:tag name="KSO_WM_DIAGRAM_VIRTUALLY_FRAME" val="{&quot;height&quot;:365,&quot;left&quot;:380,&quot;top&quot;:140,&quot;width&quot;:520}"/>
</p:tagLst>
</file>

<file path=ppt/tags/tag73.xml><?xml version="1.0" encoding="utf-8"?>
<p:tagLst xmlns:p="http://schemas.openxmlformats.org/presentationml/2006/main">
  <p:tag name="KSO_WM_DIAGRAM_VIRTUALLY_FRAME" val="{&quot;height&quot;:388,&quot;left&quot;:82.6,&quot;top&quot;:117,&quot;width&quot;:817.4}"/>
</p:tagLst>
</file>

<file path=ppt/tags/tag74.xml><?xml version="1.0" encoding="utf-8"?>
<p:tagLst xmlns:p="http://schemas.openxmlformats.org/presentationml/2006/main">
  <p:tag name="KSO_WM_DIAGRAM_VIRTUALLY_FRAME" val="{&quot;height&quot;:388,&quot;left&quot;:82.6,&quot;top&quot;:117,&quot;width&quot;:817.4}"/>
</p:tagLst>
</file>

<file path=ppt/tags/tag75.xml><?xml version="1.0" encoding="utf-8"?>
<p:tagLst xmlns:p="http://schemas.openxmlformats.org/presentationml/2006/main">
  <p:tag name="KSO_WM_DIAGRAM_VIRTUALLY_FRAME" val="{&quot;height&quot;:365,&quot;left&quot;:380,&quot;top&quot;:140,&quot;width&quot;:520}"/>
</p:tagLst>
</file>

<file path=ppt/tags/tag76.xml><?xml version="1.0" encoding="utf-8"?>
<p:tagLst xmlns:p="http://schemas.openxmlformats.org/presentationml/2006/main">
  <p:tag name="KSO_WM_DIAGRAM_VIRTUALLY_FRAME" val="{&quot;height&quot;:388,&quot;left&quot;:82.6,&quot;top&quot;:117,&quot;width&quot;:817.4}"/>
</p:tagLst>
</file>

<file path=ppt/tags/tag77.xml><?xml version="1.0" encoding="utf-8"?>
<p:tagLst xmlns:p="http://schemas.openxmlformats.org/presentationml/2006/main">
  <p:tag name="KSO_WM_DIAGRAM_VIRTUALLY_FRAME" val="{&quot;height&quot;:365,&quot;left&quot;:380,&quot;top&quot;:140,&quot;width&quot;:520}"/>
</p:tagLst>
</file>

<file path=ppt/tags/tag78.xml><?xml version="1.0" encoding="utf-8"?>
<p:tagLst xmlns:p="http://schemas.openxmlformats.org/presentationml/2006/main">
  <p:tag name="KSO_WM_DIAGRAM_VIRTUALLY_FRAME" val="{&quot;height&quot;:388,&quot;left&quot;:82.6,&quot;top&quot;:117,&quot;width&quot;:817.4}"/>
</p:tagLst>
</file>

<file path=ppt/tags/tag79.xml><?xml version="1.0" encoding="utf-8"?>
<p:tagLst xmlns:p="http://schemas.openxmlformats.org/presentationml/2006/main">
  <p:tag name="KSO_WM_DIAGRAM_VIRTUALLY_FRAME" val="{&quot;height&quot;:365,&quot;left&quot;:380,&quot;top&quot;:140,&quot;width&quot;:520}"/>
</p:tagLst>
</file>

<file path=ppt/tags/tag80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ags/tag81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ags/tag82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ags/tag83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ags/tag84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ags/tag85.xml><?xml version="1.0" encoding="utf-8"?>
<p:tagLst xmlns:p="http://schemas.openxmlformats.org/presentationml/2006/main">
  <p:tag name="KSO_WM_DIAGRAM_VIRTUALLY_FRAME" val="{&quot;height&quot;:235,&quot;left&quot;:420,&quot;top&quot;:130,&quot;width&quot;:5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3600</Words>
  <Application>WPS 演示</Application>
  <PresentationFormat/>
  <Paragraphs>302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Source Code Pro</vt:lpstr>
      <vt:lpstr>FFont-Family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刘敬知</cp:lastModifiedBy>
  <cp:revision>2</cp:revision>
  <dcterms:created xsi:type="dcterms:W3CDTF">2026-07-10T06:40:38Z</dcterms:created>
  <dcterms:modified xsi:type="dcterms:W3CDTF">2026-07-10T06:40:44Z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{"Label":"1","ContentProducer":"001191110102MACQD9K64010000","ProduceID":"7660772563005820140","ReservedCode1":"","ContentPropagator":"","PropagateID":"","ReservedCode2":""}</vt:lpwstr>
  </property>
  <property fmtid="{D5CDD505-2E9C-101B-9397-08002B2CF9AE}" pid="3" name="ICV">
    <vt:lpwstr>5294A3934BAC4F7E8EB6ABC54BFE76C3_13</vt:lpwstr>
  </property>
  <property fmtid="{D5CDD505-2E9C-101B-9397-08002B2CF9AE}" pid="4" name="KSOProductBuildVer">
    <vt:lpwstr>2052-12.1.0.20305</vt:lpwstr>
  </property>
</Properties>
</file>